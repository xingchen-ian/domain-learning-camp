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8288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SUMMARY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EDF2EF"/>
                </a:solidFill>
                <a:latin typeface="Segoe UI"/>
              </a:defRPr>
            </a:pPr>
            <a:r>
              <a:t>From Real Life</a:t>
            </a:r>
          </a:p>
          <a:p>
            <a:pPr>
              <a:defRPr sz="5200" b="1">
                <a:solidFill>
                  <a:srgbClr val="EDF2EF"/>
                </a:solidFill>
                <a:latin typeface="Segoe UI"/>
              </a:defRPr>
            </a:pPr>
            <a:r>
              <a:t>to Playable Worlds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B5B1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B48B"/>
                </a:solidFill>
                <a:latin typeface="Segoe UI"/>
              </a:defRPr>
            </a:pPr>
            <a:r>
              <a:t>You create. AI assists.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01 · 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560320"/>
            <a:ext cx="104241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 sz="3200" b="1">
                <a:solidFill>
                  <a:srgbClr val="EDF2EF"/>
                </a:solidFill>
                <a:latin typeface="Segoe UI"/>
              </a:defRPr>
            </a:pPr>
            <a:r>
              <a:t>A real-life experience can become</a:t>
            </a:r>
            <a:br/>
            <a:r>
              <a:t>a playable game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5B1"/>
                </a:solidFill>
                <a:latin typeface="Segoe UI"/>
              </a:defRPr>
            </a:pPr>
            <a:r>
              <a:t>Not a coding camp  ·  Not AI-only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01 · 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You Are the Creator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  <a:defRPr sz="2200" b="0">
                <a:solidFill>
                  <a:srgbClr val="D3DDDA"/>
                </a:solidFill>
                <a:latin typeface="Segoe UI"/>
              </a:defRPr>
            </a:pPr>
            <a:r>
              <a:t>This is not a coding camp, and we do not hand design or development over to AI.</a:t>
            </a:r>
          </a:p>
          <a:p>
            <a:pPr>
              <a:lnSpc>
                <a:spcPct val="125000"/>
              </a:lnSpc>
              <a:spcAft>
                <a:spcPts val="2200"/>
              </a:spcAft>
              <a:defRPr sz="2200" b="0">
                <a:solidFill>
                  <a:srgbClr val="D3DDDA"/>
                </a:solidFill>
                <a:latin typeface="Segoe UI"/>
              </a:defRPr>
            </a:pPr>
            <a:r>
              <a:t>You choose the experience, the system, and the purpose.</a:t>
            </a:r>
          </a:p>
          <a:p>
            <a:pPr>
              <a:lnSpc>
                <a:spcPct val="125000"/>
              </a:lnSpc>
              <a:spcAft>
                <a:spcPts val="2200"/>
              </a:spcAft>
              <a:defRPr sz="2200" b="0">
                <a:solidFill>
                  <a:srgbClr val="D3DDDA"/>
                </a:solidFill>
                <a:latin typeface="Segoe UI"/>
              </a:defRPr>
            </a:pPr>
            <a:r>
              <a:t>AI agents are your assistants — they build, document, and help you iterate.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What Students Take Away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874520"/>
            <a:ext cx="10424160" cy="73152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1874520"/>
            <a:ext cx="10424160" cy="36576"/>
          </a:xfrm>
          <a:prstGeom prst="rect">
            <a:avLst/>
          </a:prstGeom>
          <a:solidFill>
            <a:srgbClr val="78B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05740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DF2EF"/>
                </a:solidFill>
                <a:latin typeface="Segoe UI"/>
              </a:defRPr>
            </a:pPr>
            <a:r>
              <a:t>A playable game on the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743200"/>
            <a:ext cx="10424160" cy="73152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2743200"/>
            <a:ext cx="10424160" cy="36576"/>
          </a:xfrm>
          <a:prstGeom prst="rect">
            <a:avLst/>
          </a:prstGeom>
          <a:solidFill>
            <a:srgbClr val="D2B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92608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DF2EF"/>
                </a:solidFill>
                <a:latin typeface="Segoe UI"/>
              </a:defRPr>
            </a:pPr>
            <a:r>
              <a:t>A way of thinking: abstract a game system from real-life experience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611880"/>
            <a:ext cx="10424160" cy="73152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611880"/>
            <a:ext cx="10424160" cy="36576"/>
          </a:xfrm>
          <a:prstGeom prst="rect">
            <a:avLst/>
          </a:prstGeom>
          <a:solidFill>
            <a:srgbClr val="86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79476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DF2EF"/>
                </a:solidFill>
                <a:latin typeface="Segoe UI"/>
              </a:defRPr>
            </a:pPr>
            <a:r>
              <a:t>AI toolkits for recording the design and development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480559"/>
            <a:ext cx="10424160" cy="73152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4480559"/>
            <a:ext cx="10424160" cy="36576"/>
          </a:xfrm>
          <a:prstGeom prst="rect">
            <a:avLst/>
          </a:prstGeom>
          <a:solidFill>
            <a:srgbClr val="E27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66343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DF2EF"/>
                </a:solidFill>
                <a:latin typeface="Segoe UI"/>
              </a:defRPr>
            </a:pPr>
            <a:r>
              <a:t>A project website that presents the design and lets others 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Design &amp; Development Process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874520"/>
            <a:ext cx="3291840" cy="310896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1874520"/>
            <a:ext cx="3291840" cy="36576"/>
          </a:xfrm>
          <a:prstGeom prst="rect">
            <a:avLst/>
          </a:prstGeom>
          <a:solidFill>
            <a:srgbClr val="78B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8BCB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788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F2EF"/>
                </a:solidFill>
                <a:latin typeface="Segoe UI"/>
              </a:defRPr>
            </a:pPr>
            <a:r>
              <a:t>Learn from playing a game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Not only whether it is fun — but how it teaches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874520"/>
            <a:ext cx="3291840" cy="310896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1874520"/>
            <a:ext cx="3291840" cy="36576"/>
          </a:xfrm>
          <a:prstGeom prst="rect">
            <a:avLst/>
          </a:prstGeom>
          <a:solidFill>
            <a:srgbClr val="D2B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B48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788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F2EF"/>
                </a:solidFill>
                <a:latin typeface="Segoe UI"/>
              </a:defRPr>
            </a:pPr>
            <a:r>
              <a:t>Abstract an interactive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Clear for AI and for programming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874520"/>
            <a:ext cx="3291840" cy="310896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1874520"/>
            <a:ext cx="3291840" cy="36576"/>
          </a:xfrm>
          <a:prstGeom prst="rect">
            <a:avLst/>
          </a:prstGeom>
          <a:solidFill>
            <a:srgbClr val="86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A9C9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88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F2EF"/>
                </a:solidFill>
                <a:latin typeface="Segoe UI"/>
              </a:defRPr>
            </a:pPr>
            <a:r>
              <a:t>Build a playable demo with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Implement, test, and refine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Human &amp; AI: Role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874520"/>
            <a:ext cx="5029200" cy="365760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1874520"/>
            <a:ext cx="5029200" cy="36576"/>
          </a:xfrm>
          <a:prstGeom prst="rect">
            <a:avLst/>
          </a:prstGeom>
          <a:solidFill>
            <a:srgbClr val="78B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F2EF"/>
                </a:solidFill>
                <a:latin typeface="Segoe UI"/>
              </a:defRPr>
            </a:pPr>
            <a:r>
              <a:t>The creator (you)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69748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Choose domain and real-life experience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Turn elements into data, rules, feedback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Describe and visualize the system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Iterate with AI — review critically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Reflect on decisions and collaboration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74520"/>
            <a:ext cx="5029200" cy="3657600"/>
          </a:xfrm>
          <a:prstGeom prst="rect">
            <a:avLst/>
          </a:prstGeom>
          <a:solidFill>
            <a:srgbClr val="0E1518"/>
          </a:solidFill>
          <a:ln w="12700">
            <a:solidFill>
              <a:srgbClr val="3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874520"/>
            <a:ext cx="5029200" cy="36576"/>
          </a:xfrm>
          <a:prstGeom prst="rect">
            <a:avLst/>
          </a:prstGeom>
          <a:solidFill>
            <a:srgbClr val="D2B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F2EF"/>
                </a:solidFill>
                <a:latin typeface="Segoe UI"/>
              </a:defRPr>
            </a:pPr>
            <a:r>
              <a:t>AI assistants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69748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Accelerate building and documentation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Help implement and iterate quickly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Suggest alternatives — not judgment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500" b="0">
                <a:solidFill>
                  <a:srgbClr val="A8B5B1"/>
                </a:solidFill>
                <a:latin typeface="Segoe UI"/>
              </a:defRPr>
            </a:pPr>
            <a:r>
              <a:t>Cannot decide why the game is worth making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04 · HUMAN &amp;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Who Owns the Purpose?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EDF2EF"/>
                </a:solidFill>
                <a:latin typeface="Segoe UI"/>
              </a:defRPr>
            </a:pPr>
            <a:r>
              <a:t>AI can speed up design and development,</a:t>
            </a:r>
            <a:br/>
            <a:r>
              <a:t>but it cannot decide why this game is worth making.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Why This Matters for Future Designers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947672"/>
            <a:ext cx="54864" cy="457200"/>
          </a:xfrm>
          <a:prstGeom prst="rect">
            <a:avLst/>
          </a:prstGeom>
          <a:solidFill>
            <a:srgbClr val="D2B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EF"/>
                </a:solidFill>
                <a:latin typeface="Segoe UI"/>
              </a:defRPr>
            </a:pPr>
            <a:r>
              <a:t>Design thinking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8745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Start from real life, not flashy visuals or whatever AI suggests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660904"/>
            <a:ext cx="54864" cy="457200"/>
          </a:xfrm>
          <a:prstGeom prst="rect">
            <a:avLst/>
          </a:prstGeom>
          <a:solidFill>
            <a:srgbClr val="78B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EF"/>
                </a:solidFill>
                <a:latin typeface="Segoe UI"/>
              </a:defRPr>
            </a:pPr>
            <a:r>
              <a:t>Systems thinking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5877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See how data, actions, feedback, and challenges connect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374136"/>
            <a:ext cx="54864" cy="457200"/>
          </a:xfrm>
          <a:prstGeom prst="rect">
            <a:avLst/>
          </a:prstGeom>
          <a:solidFill>
            <a:srgbClr val="86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3009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EF"/>
                </a:solidFill>
                <a:latin typeface="Segoe UI"/>
              </a:defRPr>
            </a:pPr>
            <a:r>
              <a:t>Judgment with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30098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Know what to accept, reject, or revise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087368"/>
            <a:ext cx="54864" cy="457200"/>
          </a:xfrm>
          <a:prstGeom prst="rect">
            <a:avLst/>
          </a:prstGeom>
          <a:solidFill>
            <a:srgbClr val="E27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0142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EF"/>
                </a:solidFill>
                <a:latin typeface="Segoe UI"/>
              </a:defRPr>
            </a:pPr>
            <a:r>
              <a:t>Expression &amp; exhibition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01421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Present your game and your design clearly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800600"/>
            <a:ext cx="54864" cy="457200"/>
          </a:xfrm>
          <a:prstGeom prst="rect">
            <a:avLst/>
          </a:prstGeom>
          <a:solidFill>
            <a:srgbClr val="D2B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274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F2EF"/>
                </a:solidFill>
                <a:latin typeface="Segoe UI"/>
              </a:defRPr>
            </a:pPr>
            <a:r>
              <a:t>Playtesting &amp; iteration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7274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Test with players, learn from failure, improve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How to Play Students’ Game Designs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5087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5B1"/>
                </a:solidFill>
                <a:latin typeface="Segoe UI"/>
              </a:defRPr>
            </a:pPr>
            <a:r>
              <a:t>xingchen-ian.github.io/domain-learning-camp/gallery/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96596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BCB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3317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DDDA"/>
                </a:solidFill>
                <a:latin typeface="Segoe UI"/>
              </a:defRPr>
            </a:pPr>
            <a:r>
              <a:t>Open the Game Gallery and choose a 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BCB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1089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DDDA"/>
                </a:solidFill>
                <a:latin typeface="Segoe UI"/>
              </a:defRPr>
            </a:pPr>
            <a:r>
              <a:t>Read the project home page — what the game teaches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404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BCB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862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DDDA"/>
                </a:solidFill>
                <a:latin typeface="Segoe UI"/>
              </a:defRPr>
            </a:pPr>
            <a:r>
              <a:t>Click Play and try one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BCB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66344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DDDA"/>
                </a:solidFill>
                <a:latin typeface="Segoe UI"/>
              </a:defRPr>
            </a:pPr>
            <a:r>
              <a:t>Ask the student: What should the player learn? What changed after testing?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Game Trailers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2608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8B5B1"/>
                </a:solidFill>
                <a:latin typeface="Segoe UI"/>
              </a:defRPr>
            </a:pPr>
            <a:r>
              <a:t>Short clips · Screenshots · One-line pitches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F8283"/>
                </a:solidFill>
                <a:latin typeface="Segoe UI"/>
              </a:defRPr>
            </a:pPr>
            <a:r>
              <a:t>Leave this slide for live demos or embedded video.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B8AD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68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2EF"/>
                </a:solidFill>
                <a:latin typeface="Segoe UI"/>
              </a:defRPr>
            </a:pPr>
            <a:r>
              <a:t>Final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54480"/>
            <a:ext cx="1463040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46888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 b="1">
                <a:solidFill>
                  <a:srgbClr val="EDF2EF"/>
                </a:solidFill>
                <a:latin typeface="Segoe UI"/>
              </a:defRPr>
            </a:pPr>
            <a:r>
              <a:t>You are not here to become an “AI expert” overnight.</a:t>
            </a:r>
            <a:br/>
            <a:br/>
            <a:r>
              <a:t>You are here to begin thinking, crafting, and playing as a designer — with AI as a tool, not a substitute for your judgment.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8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0412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0" y="0"/>
            <a:ext cx="9144" cy="6858000"/>
          </a:xfrm>
          <a:prstGeom prst="rect">
            <a:avLst/>
          </a:prstGeom>
          <a:solidFill>
            <a:srgbClr val="1A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C85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DF2E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8BCB6"/>
                </a:solidFill>
                <a:latin typeface="Segoe UI"/>
              </a:defRPr>
            </a:pPr>
            <a:r>
              <a:t>Play the gallery →  xingchen-ian.github.io/domain-learning-camp/gallery/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B1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8283"/>
                </a:solidFill>
                <a:latin typeface="Segoe UI"/>
              </a:defRPr>
            </a:pPr>
            <a:r>
              <a:t>NYU Shanghai · IMA Game Design Summer Camp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F8283"/>
                </a:solidFill>
                <a:latin typeface="Segoe U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